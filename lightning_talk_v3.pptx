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drawings/drawing1.xml" ContentType="application/vnd.openxmlformats-officedocument.drawingml.chartshapes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6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880"/>
    <p:restoredTop sz="78455"/>
  </p:normalViewPr>
  <p:slideViewPr>
    <p:cSldViewPr snapToGrid="0" snapToObjects="1">
      <p:cViewPr varScale="1">
        <p:scale>
          <a:sx n="93" d="100"/>
          <a:sy n="93" d="100"/>
        </p:scale>
        <p:origin x="216" y="1400"/>
      </p:cViewPr>
      <p:guideLst/>
    </p:cSldViewPr>
  </p:slideViewPr>
  <p:notesTextViewPr>
    <p:cViewPr>
      <p:scale>
        <a:sx n="140" d="100"/>
        <a:sy n="14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2" Type="http://schemas.openxmlformats.org/officeDocument/2006/relationships/chartUserShapes" Target="../drawings/drawing1.xml"/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F172A"/>
                </a:solidFill>
                <a:latin typeface="Arial"/>
              </a:defRPr>
            </a:pPr>
            <a:r>
              <a:rPr lang="en-US" sz="1200" b="0" i="0" u="none" strike="noStrike">
                <a:solidFill>
                  <a:srgbClr val="0F172A"/>
                </a:solidFill>
                <a:latin typeface="Arial"/>
              </a:rPr>
              <a:t>Final Loss vs Learning Rate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SGD</c:v>
                </c:pt>
              </c:strCache>
            </c:strRef>
          </c:tx>
          <c:spPr>
            <a:ln w="31750" cap="flat">
              <a:solidFill>
                <a:srgbClr val="64748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64748B"/>
              </a:solidFill>
              <a:ln w="9525" cap="flat">
                <a:solidFill>
                  <a:srgbClr val="64748B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0.005</c:v>
                </c:pt>
                <c:pt idx="1">
                  <c:v>0.010</c:v>
                </c:pt>
                <c:pt idx="2">
                  <c:v>0.030</c:v>
                </c:pt>
                <c:pt idx="3">
                  <c:v>0.050</c:v>
                </c:pt>
                <c:pt idx="4">
                  <c:v>0.100</c:v>
                </c:pt>
                <c:pt idx="5">
                  <c:v>0.200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9.0399999999999994E-2</c:v>
                </c:pt>
                <c:pt idx="1">
                  <c:v>7.2700000000000001E-2</c:v>
                </c:pt>
                <c:pt idx="2">
                  <c:v>6.4100000000000004E-2</c:v>
                </c:pt>
                <c:pt idx="3">
                  <c:v>6.4100000000000004E-2</c:v>
                </c:pt>
                <c:pt idx="4">
                  <c:v>7.0599999999999996E-2</c:v>
                </c:pt>
                <c:pt idx="5">
                  <c:v>7.0599999999999996E-2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40D-D440-ADDA-78A36EE2452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SVRG</c:v>
                </c:pt>
              </c:strCache>
            </c:strRef>
          </c:tx>
          <c:spPr>
            <a:ln w="31750" cap="flat">
              <a:solidFill>
                <a:srgbClr val="0D948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D9488"/>
              </a:solidFill>
              <a:ln w="9525" cap="flat">
                <a:solidFill>
                  <a:srgbClr val="0D948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0.005</c:v>
                </c:pt>
                <c:pt idx="1">
                  <c:v>0.010</c:v>
                </c:pt>
                <c:pt idx="2">
                  <c:v>0.030</c:v>
                </c:pt>
                <c:pt idx="3">
                  <c:v>0.050</c:v>
                </c:pt>
                <c:pt idx="4">
                  <c:v>0.100</c:v>
                </c:pt>
                <c:pt idx="5">
                  <c:v>0.200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6.7500000000000004E-2</c:v>
                </c:pt>
                <c:pt idx="1">
                  <c:v>6.3200000000000006E-2</c:v>
                </c:pt>
                <c:pt idx="2">
                  <c:v>6.0400000000000002E-2</c:v>
                </c:pt>
                <c:pt idx="3">
                  <c:v>0.06</c:v>
                </c:pt>
                <c:pt idx="4">
                  <c:v>5.9900000000000002E-2</c:v>
                </c:pt>
                <c:pt idx="5">
                  <c:v>8.1799999999999998E-2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940D-D440-ADDA-78A36EE2452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SAGA</c:v>
                </c:pt>
              </c:strCache>
            </c:strRef>
          </c:tx>
          <c:spPr>
            <a:ln w="31750" cap="flat">
              <a:solidFill>
                <a:srgbClr val="F59E0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F59E0B"/>
              </a:solidFill>
              <a:ln w="9525" cap="flat">
                <a:solidFill>
                  <a:srgbClr val="F59E0B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0.005</c:v>
                </c:pt>
                <c:pt idx="1">
                  <c:v>0.010</c:v>
                </c:pt>
                <c:pt idx="2">
                  <c:v>0.030</c:v>
                </c:pt>
                <c:pt idx="3">
                  <c:v>0.050</c:v>
                </c:pt>
                <c:pt idx="4">
                  <c:v>0.100</c:v>
                </c:pt>
                <c:pt idx="5">
                  <c:v>0.200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6.7500000000000004E-2</c:v>
                </c:pt>
                <c:pt idx="1">
                  <c:v>6.3100000000000003E-2</c:v>
                </c:pt>
                <c:pt idx="2">
                  <c:v>6.0299999999999999E-2</c:v>
                </c:pt>
                <c:pt idx="3">
                  <c:v>6.1499999999999999E-2</c:v>
                </c:pt>
                <c:pt idx="4">
                  <c:v>6.2700000000000006E-2</c:v>
                </c:pt>
                <c:pt idx="5">
                  <c:v>0.10920000000000001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940D-D440-ADDA-78A36EE2452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5.5E-2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25400"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  <c:userShapes r:id="rId2"/>
</c:chartSpace>
</file>

<file path=ppt/drawings/_rels/drawing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</cdr:x>
      <cdr:y>0</cdr:y>
    </cdr:from>
    <cdr:to>
      <cdr:x>1</cdr:x>
      <cdr:y>1</cdr:y>
    </cdr:to>
    <cdr:pic>
      <cdr:nvPicPr>
        <cdr:cNvPr id="3" name="Picture 2">
          <a:extLst xmlns:a="http://schemas.openxmlformats.org/drawingml/2006/main">
            <a:ext uri="{FF2B5EF4-FFF2-40B4-BE49-F238E27FC236}">
              <a16:creationId xmlns:a16="http://schemas.microsoft.com/office/drawing/2014/main" id="{F7BDBFAD-1462-4D5F-07FF-8C38D2E0EC4A}"/>
            </a:ext>
          </a:extLst>
        </cdr:cNvPr>
        <cdr:cNvPicPr>
          <a:picLocks xmlns:a="http://schemas.openxmlformats.org/drawingml/2006/main" noChangeAspect="1"/>
        </cdr:cNvPicPr>
      </cdr:nvPicPr>
      <cdr:blipFill>
        <a:blip xmlns:a="http://schemas.openxmlformats.org/drawingml/2006/main" xmlns:r="http://schemas.openxmlformats.org/officeDocument/2006/relationships" r:embed="rId1"/>
        <a:stretch xmlns:a="http://schemas.openxmlformats.org/drawingml/2006/main">
          <a:fillRect/>
        </a:stretch>
      </cdr:blipFill>
      <cdr:spPr>
        <a:xfrm xmlns:a="http://schemas.openxmlformats.org/drawingml/2006/main">
          <a:off x="0" y="0"/>
          <a:ext cx="4506793" cy="3041054"/>
        </a:xfrm>
        <a:prstGeom xmlns:a="http://schemas.openxmlformats.org/drawingml/2006/main" prst="rect">
          <a:avLst/>
        </a:prstGeom>
      </cdr:spPr>
    </cdr:pic>
  </cdr:relSizeAnchor>
</c:userShape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818938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Hi, this is a reproducibility study of SAGA.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 compare SGD, SVRG, and SAGA on a convex ML problem, and focus on practical tradeoffs like runtime, stability, and gradient cost.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original paper claims that SAGA improves over SGD and SVRG by reducing gradient variance while keeping computation efficient.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 we implemented all three methods from scratch under the same setup and tested them on a real dataset.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Our goal is to check whether these theoretical advantages actually hold in practice — especially under fair, controlled conditions.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 focus on three questions: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First, does SAGA actually beat SGD in final performance?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Second, what is the tradeoff between convergence quality and compute cost?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third, how sensitive are these methods to the learning rate?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Overall, most of the paper’s claims hold — but with some important caveats.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SAGA does achieve lower final loss than SGD.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 also uses far fewer gradient evaluations than SVRG.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However, we found that SAGA only matches SVRG’s performance when the learning rate is properly tuned.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With a fixed learning rate, SAGA can underperform — which is something the original paper doesn’t emphasize.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Here is the main tradeoff.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SVRG achieves the lowest final loss, but requires about 3× more gradient evaluations due to full gradient passes.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SGD is the fastest in runtime, but plateaus at a higher objective.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SAGA sits in between — it matches SGD’s gradient budget while getting closer to SVRG’s final loss.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When we tune the learning rate, SAGA becomes very competitive.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 the right learning rate, it achieves nearly the same loss as SVRG, but at only one-third of the gradient cost.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But if we use the wrong learning rate, performance drops noticeably.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 tuning matters much more for SAGA than expected.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Looking at stability across random seeds, SVRG is by far the most stable.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Its variance is almost zero, while SGD shows much higher variability.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empirically confirms the benefit of variance reduction in practice.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Our study adds three practical insights not emphasized in the paper.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First, SAGA is quite sensitive to learning rate when not tuned individually.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Second, the tradeoff between compute and accuracy becomes much clearer when measured in gradient evaluations.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third, the stability benefits of variance reduction show up very clearly across random seeds.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Our main limitation is that we only used a single small dataset.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 also didn’t run full multi-seed experiments for SAGA.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 while the trends are clear, larger-scale validation would strengthen the conclusions.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 summarize: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SVRG gives the best accuracy and stability, but is computationally expensive.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SGD is fastest, but less accurate and more noisy.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SAGA provides the best balance — it achieves near-SVRG performance at much lower cost, but requires careful tuning.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 the choice depends on whether you prioritize speed, reliability, or efficiency.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11480" y="777240"/>
            <a:ext cx="256032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11480" y="77724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REPRODUCIBILITY STUDY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234440"/>
            <a:ext cx="8321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Reproducing SAGA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11480" y="2084832"/>
            <a:ext cx="8321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Defazio, Bach &amp; Lacoste-Julien (NeurIPS 2014)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11480" y="2651760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SAGA really beat SGD and SVRG on a convex ML problem?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11480" y="4462272"/>
            <a:ext cx="8321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Jihyun Kim  &amp;  William Zhang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4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804672"/>
            <a:ext cx="4160520" cy="16002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3886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claim (Defazio et al. 2014)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3886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SAGA has better theoretical convergence than SAG &amp; SVRG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Unbiased gradient estimator + O(nd) memory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to strong convexity — no need to know λ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17720" y="1600200"/>
            <a:ext cx="502920" cy="0"/>
          </a:xfrm>
          <a:prstGeom prst="line">
            <a:avLst/>
          </a:prstGeom>
          <a:noFill/>
          <a:ln w="31750">
            <a:solidFill>
              <a:srgbClr val="0D9488"/>
            </a:solidFill>
            <a:prstDash val="sysDot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617720" y="1399032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212080" y="804672"/>
            <a:ext cx="3657600" cy="16002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349240" y="86868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reproducibility study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349240" y="1234440"/>
            <a:ext cx="33832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SAGA from scratch vs SGD &amp; SVRG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dataset, same epochs, locked comparison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gradient correctness (finite-diff error &lt; 10⁻¹⁰)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" y="2578608"/>
            <a:ext cx="2651760" cy="132588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7200" y="26517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3108960"/>
            <a:ext cx="2377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· cheap per step · noisy gradients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337560" y="2578608"/>
            <a:ext cx="2651760" cy="1325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474720" y="26517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SVRG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3474720" y="3108960"/>
            <a:ext cx="2377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full gradient · variance reduced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355080" y="2578608"/>
            <a:ext cx="2651760" cy="132588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492240" y="26517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SAGA 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492240" y="3108960"/>
            <a:ext cx="2377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table · unbiased estimator · low compute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20040" y="3977640"/>
            <a:ext cx="8503920" cy="384048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57200" y="3986784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note: Original paper used MNIST, COVTYPE, IJCNN1, MILLIONSONG. We use sklearn Breast Cancer (n=569, d=30) — a different benchmark.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20040" y="4416552"/>
            <a:ext cx="8503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Theoretical claims need empirical validation — do SAGA's advantages hold on a real ML task, even with a different dataset?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4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QUESTIONS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640080" cy="64008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20040" y="960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43000" y="9144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SAGA's variance reduction actually outperform plain SGD in final loss?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320040" y="2194560"/>
            <a:ext cx="640080" cy="64008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20040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43000" y="214884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there a tradeoff between convergence quality and computational cost?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320040" y="3429000"/>
            <a:ext cx="640080" cy="64008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20040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43000" y="338328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sensitive is SAGA to the learning rate compared to SGD and SVRG?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4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CLAIMS vs OUR FINDINGS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777240"/>
            <a:ext cx="4069080" cy="438912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20040" y="777240"/>
            <a:ext cx="406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Defazio et al. (2014) claims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754880" y="777240"/>
            <a:ext cx="4069080" cy="4389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754880" y="777240"/>
            <a:ext cx="406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empirical results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" y="1353312"/>
            <a:ext cx="4069080" cy="80467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1399032"/>
            <a:ext cx="3794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SAGA converges faster than SGD (lower final loss)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54880" y="1353312"/>
            <a:ext cx="4069080" cy="804672"/>
          </a:xfrm>
          <a:prstGeom prst="rect">
            <a:avLst/>
          </a:prstGeom>
          <a:solidFill>
            <a:srgbClr val="ECFDF5"/>
          </a:solidFill>
          <a:ln w="12700">
            <a:solidFill>
              <a:srgbClr val="6EE7B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92040" y="1399032"/>
            <a:ext cx="3794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Confirmed: SAGA (tuned) achieves 0.0603 vs SGD 0.0641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" y="2240280"/>
            <a:ext cx="40690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7200" y="2286000"/>
            <a:ext cx="3794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SAGA uses fewer gradient evaluations than SVRG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54880" y="2240280"/>
            <a:ext cx="4069080" cy="804672"/>
          </a:xfrm>
          <a:prstGeom prst="rect">
            <a:avLst/>
          </a:prstGeom>
          <a:solidFill>
            <a:srgbClr val="ECFDF5"/>
          </a:solidFill>
          <a:ln w="12700">
            <a:solidFill>
              <a:srgbClr val="6EE7B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892040" y="2286000"/>
            <a:ext cx="3794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Confirmed: SAGA uses ~17K evals vs SVRG's 51K evals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" y="3127248"/>
            <a:ext cx="4069080" cy="80467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57200" y="3172968"/>
            <a:ext cx="3794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SAGA matches SVRG convergence quality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754880" y="3127248"/>
            <a:ext cx="4069080" cy="804672"/>
          </a:xfrm>
          <a:prstGeom prst="rect">
            <a:avLst/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892040" y="3172968"/>
            <a:ext cx="3794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Partially: only when lr is tuned (0.03); locked lr (0.10) underperforms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20040" y="4014216"/>
            <a:ext cx="40690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57200" y="4059936"/>
            <a:ext cx="3794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SAGA is robust and practical with O(nd) memory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754880" y="4014216"/>
            <a:ext cx="4069080" cy="804672"/>
          </a:xfrm>
          <a:prstGeom prst="rect">
            <a:avLst/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892040" y="4059936"/>
            <a:ext cx="3794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is fine here (138 KB), but LR sensitivity is a real practical concern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462272" y="777240"/>
            <a:ext cx="0" cy="4023360"/>
          </a:xfrm>
          <a:prstGeom prst="line">
            <a:avLst/>
          </a:prstGeom>
          <a:noFill/>
          <a:ln w="1905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4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TAKE-HOME  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20040" y="777240"/>
            <a:ext cx="8503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SVRG achieves the best loss — but costs 3× more gradient evaluations</a:t>
            </a:r>
            <a:endParaRPr lang="en-US" sz="2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7096036"/>
              </p:ext>
            </p:extLst>
          </p:nvPr>
        </p:nvGraphicFramePr>
        <p:xfrm>
          <a:off x="320040" y="1600200"/>
          <a:ext cx="8503920" cy="1645920"/>
        </p:xfrm>
        <a:graphic>
          <a:graphicData uri="http://schemas.openxmlformats.org/drawingml/2006/table">
            <a:tbl>
              <a:tblPr/>
              <a:tblGrid>
                <a:gridCol w="21259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Loss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 Evals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 (s)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0.0641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17,070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 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SVRG 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0.0599 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51,210 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 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SAGA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0.0627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17,639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 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 3"/>
          <p:cNvSpPr/>
          <p:nvPr/>
        </p:nvSpPr>
        <p:spPr>
          <a:xfrm>
            <a:off x="320040" y="3383280"/>
            <a:ext cx="850392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SVRG reaches lowest loss, but pays for a full gradient pass every epoch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SGD is fastest (wall-clock) — but plateaus at a higher, noisier objective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SAGA matches SGD's gradient budget while staying closer to SVRG's loss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4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TAKE-HOME  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20040" y="777240"/>
            <a:ext cx="8503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SAGA matches SVRG accuracy at ⅓ the gradient cost — if tuned correctly</a:t>
            </a:r>
            <a:endParaRPr lang="en-US" sz="2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4035056"/>
              </p:ext>
            </p:extLst>
          </p:nvPr>
        </p:nvGraphicFramePr>
        <p:xfrm>
          <a:off x="320040" y="1572768"/>
          <a:ext cx="8503920" cy="233172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663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 Rate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Loss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 Evals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SGD baseline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17,070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(baseline)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SVRG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65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−6.5% loss, 3× evals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9240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SAGA (locked)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9240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9240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0.0627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9240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17,639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9240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−2.2% loss — wrong LR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SAGA (tuned)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0.0603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17,639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−6.0% loss, ⅓ the evals!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20040" y="4041648"/>
            <a:ext cx="4114800" cy="777240"/>
          </a:xfrm>
          <a:prstGeom prst="rect">
            <a:avLst/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4"/>
          <p:cNvSpPr/>
          <p:nvPr/>
        </p:nvSpPr>
        <p:spPr>
          <a:xfrm>
            <a:off x="457200" y="4059936"/>
            <a:ext cx="3840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SAGA tuned achieves near-SVRG accuracy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only ⅓ the gradient evaluation cost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709160" y="4041648"/>
            <a:ext cx="4114800" cy="77724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4846320" y="4059936"/>
            <a:ext cx="3840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LR (0.10) costs SAGA 0.0024 in loss —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tuning matters more here than for SGD or SVRG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4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TAKE-HOME  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20040" y="777240"/>
            <a:ext cx="8503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methods are learning-rate sensitive — SVRG is the most stable</a:t>
            </a:r>
            <a:endParaRPr lang="en-US" sz="2100" dirty="0"/>
          </a:p>
        </p:txBody>
      </p:sp>
      <p:graphicFrame>
        <p:nvGraphicFramePr>
          <p:cNvPr id="5" name="Chart 0"/>
          <p:cNvGraphicFramePr/>
          <p:nvPr>
            <p:extLst>
              <p:ext uri="{D42A27DB-BD31-4B8C-83A1-F6EECF244321}">
                <p14:modId xmlns:p14="http://schemas.microsoft.com/office/powerpoint/2010/main" val="1608432489"/>
              </p:ext>
            </p:extLst>
          </p:nvPr>
        </p:nvGraphicFramePr>
        <p:xfrm>
          <a:off x="1017082" y="1673353"/>
          <a:ext cx="4506793" cy="304105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5989320" y="1600200"/>
            <a:ext cx="283464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126480" y="169164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Stability Check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(seeds 0, 1, 2)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35040" y="2286000"/>
          <a:ext cx="2743200" cy="905256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Std Loss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SVRG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0.000009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6080760" y="3291840"/>
            <a:ext cx="26517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SVRG std = 9×10⁻⁶ </a:t>
            </a:r>
          </a:p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</a:t>
            </a:r>
          </a:p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SGD std = 1.3×10⁻³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Variance reduction </a:t>
            </a:r>
          </a:p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variance-stable training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PERSPECTIVES FROM OUR STUDY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20040" y="804672"/>
            <a:ext cx="8503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original paper didn't tell us: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20040" y="1353312"/>
            <a:ext cx="8503920" cy="1051560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20040" y="1353312"/>
            <a:ext cx="109728" cy="105156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66928" y="1426464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 LR exposes SAGA's fragility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66928" y="1773936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Defazio et al. report results at each method's optimal LR. We show that SAGA degrades meaningfully under a shared fixed LR — a practical scenario the paper glosses over.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20040" y="2523744"/>
            <a:ext cx="8503920" cy="1051560"/>
          </a:xfrm>
          <a:prstGeom prst="rect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20040" y="2523744"/>
            <a:ext cx="109728" cy="105156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66928" y="2596896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Tradeoff is clearer with gradient-eval budget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66928" y="2944368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paper focuses on theory. We quantify the compute-accuracy tradeoff explicitly: SAGA achieves SVRG-level loss at ⅓ the gradient evaluations when properly tuned.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20040" y="3694176"/>
            <a:ext cx="8503920" cy="10515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20040" y="3694176"/>
            <a:ext cx="109728" cy="105156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66928" y="3767328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stability reveals variance reduction in practice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66928" y="411480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SVRG's std loss across seeds (9×10⁻⁶) is 150× lower than SGD's (1.3×10⁻³) — empirically confirming the theoretical variance-reduction guarantee in a concrete ML setting.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4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FUTURE WORK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777240"/>
            <a:ext cx="4069080" cy="40233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20040" y="777240"/>
            <a:ext cx="4069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20040" y="1261872"/>
            <a:ext cx="4069080" cy="1078992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20040" y="1261872"/>
            <a:ext cx="91440" cy="107899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30352" y="1335024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dataset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30352" y="1655064"/>
            <a:ext cx="3749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Cancer (n=569, d=30) is small and clean. Results may not hold on larger, sparser, or ill-conditioned data.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0040" y="2450592"/>
            <a:ext cx="4069080" cy="1078992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20040" y="2450592"/>
            <a:ext cx="91440" cy="107899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30352" y="2523744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benchmark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30352" y="2843784"/>
            <a:ext cx="3749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paper used MNIST, COVTYPE, IJCNN1, MILLIONSONG. Direct comparison to paper figures is not possible.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20040" y="3639312"/>
            <a:ext cx="4069080" cy="1078992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20040" y="3639312"/>
            <a:ext cx="91440" cy="107899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30352" y="3712464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3 seeds for SVRG/SGD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30352" y="4032504"/>
            <a:ext cx="3749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check excludes SAGA; a full multi-seed study across all three methods would be more rigorous.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754880" y="777240"/>
            <a:ext cx="4069080" cy="40233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754880" y="777240"/>
            <a:ext cx="4069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754880" y="1261872"/>
            <a:ext cx="4069080" cy="1078992"/>
          </a:xfrm>
          <a:prstGeom prst="rect">
            <a:avLst/>
          </a:prstGeom>
          <a:solidFill>
            <a:srgbClr val="ECFDF5"/>
          </a:solidFill>
          <a:ln w="12700">
            <a:solidFill>
              <a:srgbClr val="6EE7B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754880" y="1261872"/>
            <a:ext cx="91440" cy="10789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956048" y="1335024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on more datasets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956048" y="1655064"/>
            <a:ext cx="3749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large dense dataset (e.g. COVTYPE, 581K samples) and a sparse one (e.g. RCV1) to test whether findings generalize.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754880" y="2450592"/>
            <a:ext cx="4069080" cy="1078992"/>
          </a:xfrm>
          <a:prstGeom prst="rect">
            <a:avLst/>
          </a:prstGeom>
          <a:solidFill>
            <a:srgbClr val="ECFDF5"/>
          </a:solidFill>
          <a:ln w="12700">
            <a:solidFill>
              <a:srgbClr val="6EE7B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754880" y="2450592"/>
            <a:ext cx="91440" cy="10789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956048" y="2523744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multi-seed study for SAGA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956048" y="2843784"/>
            <a:ext cx="3749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SAGA across seeds 0–4 at both lr=0.03 and lr=0.10 to properly quantify its variance relative to SGD and SVRG.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754880" y="3639312"/>
            <a:ext cx="4069080" cy="1078992"/>
          </a:xfrm>
          <a:prstGeom prst="rect">
            <a:avLst/>
          </a:prstGeom>
          <a:solidFill>
            <a:srgbClr val="ECFDF5"/>
          </a:solidFill>
          <a:ln w="12700">
            <a:solidFill>
              <a:srgbClr val="6EE7B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754880" y="3639312"/>
            <a:ext cx="91440" cy="10789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956048" y="3712464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learning rate variants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956048" y="4032504"/>
            <a:ext cx="3749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SAGA with step-decay or line search, which the original paper suggests but we did not explore.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228600"/>
            <a:ext cx="8321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11480" y="914400"/>
            <a:ext cx="8321040" cy="475488"/>
          </a:xfrm>
          <a:prstGeom prst="rect">
            <a:avLst/>
          </a:prstGeom>
          <a:solidFill>
            <a:srgbClr val="0D9488">
              <a:alpha val="85000"/>
            </a:srgbClr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932688"/>
            <a:ext cx="8046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Reproducibility verdict: SAGA's core claims hold — with an important asterisk on LR sensitivity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1508760"/>
            <a:ext cx="8321040" cy="96012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0D9488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1572768"/>
            <a:ext cx="7772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SVRG wins on accuracy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1929384"/>
            <a:ext cx="7772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final loss; very stable across seeds. Costs 3× gradient evaluations.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11480" y="2560320"/>
            <a:ext cx="8321040" cy="96012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0D9488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85800" y="2624328"/>
            <a:ext cx="7772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SAGA is the efficiency sweet spot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5800" y="2980944"/>
            <a:ext cx="7772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lr=0.03, nearly matches SVRG at ⅓ the gradient budget. Confirmed!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11480" y="3611880"/>
            <a:ext cx="8321040" cy="96012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0D9488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85800" y="3675888"/>
            <a:ext cx="7772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your learning rate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85800" y="4032504"/>
            <a:ext cx="7772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methods degrade with poor LR — especially SAGA. The paper underplays this.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1480" y="4754880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SGD for speed  ·  SVRG for reliability  ·  SAGA for balanced efficiency (with tuning)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376</TotalTime>
  <Words>1498</Words>
  <Application>Microsoft Macintosh PowerPoint</Application>
  <PresentationFormat>On-screen Show (16:9)</PresentationFormat>
  <Paragraphs>188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Reproducing SAGA – SGD vs SVRG vs SAGA</dc:title>
  <dc:subject>PptxGenJS Presentation</dc:subject>
  <dc:creator>PptxGenJS</dc:creator>
  <cp:lastModifiedBy>Jihyun Kim</cp:lastModifiedBy>
  <cp:revision>4</cp:revision>
  <dcterms:created xsi:type="dcterms:W3CDTF">2026-04-20T01:02:37Z</dcterms:created>
  <dcterms:modified xsi:type="dcterms:W3CDTF">2026-04-20T18:52:44Z</dcterms:modified>
</cp:coreProperties>
</file>